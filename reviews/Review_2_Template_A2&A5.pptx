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5" r:id="rId5"/>
    <p:sldId id="267" r:id="rId6"/>
    <p:sldId id="268" r:id="rId7"/>
    <p:sldId id="269" r:id="rId8"/>
    <p:sldId id="270" r:id="rId9"/>
    <p:sldId id="263" r:id="rId10"/>
    <p:sldId id="264" r:id="rId11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F6DE0ACA-03BC-46D6-9D4D-3FE672280FD2}" type="slidenum">
              <a:rPr/>
              <a:pPr/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B932CF5-990D-4109-834E-B5F479C67FEC}" type="slidenum">
              <a:rPr/>
              <a:pPr/>
              <a:t>‹#›</a:t>
            </a:fld>
            <a:endParaRPr/>
          </a:p>
        </p:txBody>
      </p:sp>
      <p:sp>
        <p:nvSpPr>
          <p:cNvPr id="2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0111CD9-D0AF-457D-9A4F-98FC04BC9A31}" type="slidenum">
              <a:rPr/>
              <a:pPr/>
              <a:t>‹#›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6F803718-B8BF-497F-A984-712BA1ED5D22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4C4CC7DF-1A0F-4CAC-8445-C88DCF9CF90E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DFF3E4A3-4C94-4785-A0E6-29AA5BBC5DE4}" type="slidenum">
              <a:rPr/>
              <a:pPr/>
              <a:t>‹#›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21731DF4-7314-4F43-ADF2-78EF8CAAEF2D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E1AC3676-484E-4704-B7A7-7DB709AE2100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CECAE218-CAC7-47E3-A7FE-2C38C494088F}" type="slidenum">
              <a:rPr/>
              <a:pPr/>
              <a:t>‹#›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02D5E523-FFA3-4105-8C15-30B5DC71F893}" type="slidenum">
              <a:rPr/>
              <a:pPr/>
              <a:t>‹#›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5DD45FD-2B75-46F3-8500-1CA3B0C5D658}" type="slidenum">
              <a:rPr/>
              <a:pPr/>
              <a:t>‹#›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IN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lstStyle/>
          <a:p>
            <a:fld id="{32FD64C0-15F1-471C-9E50-9DE70748CF53}" type="slidenum">
              <a:rPr/>
              <a:pPr/>
              <a:t>‹#›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6"/>
          <p:cNvSpPr/>
          <p:nvPr/>
        </p:nvSpPr>
        <p:spPr>
          <a:xfrm>
            <a:off x="9867960" y="365040"/>
            <a:ext cx="2323440" cy="729360"/>
          </a:xfrm>
          <a:prstGeom prst="roundRect">
            <a:avLst>
              <a:gd name="adj" fmla="val 16667"/>
            </a:avLst>
          </a:prstGeom>
          <a:blipFill rotWithShape="0">
            <a:blip r:embed="rId14"/>
            <a:srcRect/>
            <a:stretch/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IN" sz="1800" b="0" strike="noStrike" spc="-1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40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2" name="PlaceHolder 2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IN" sz="1200" b="0" strike="noStrike" spc="-1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E93278-1DF5-4FAB-BCA3-32B4116A7B24}" type="slidenum">
              <a:rPr lang="en-IN" sz="1200" b="0" strike="noStrike" spc="-1">
                <a:solidFill>
                  <a:srgbClr val="8B8B8B"/>
                </a:solidFill>
                <a:latin typeface="Calibri"/>
              </a:rPr>
              <a:pPr indent="0" algn="r">
                <a:lnSpc>
                  <a:spcPct val="100000"/>
                </a:lnSpc>
                <a:buNone/>
                <a:tabLst>
                  <a:tab pos="0" algn="l"/>
                </a:tabLst>
              </a:pPr>
              <a:t>‹#›</a:t>
            </a:fld>
            <a:endParaRPr lang="en-IN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2480" cy="3643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en-IN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IN" sz="1400" b="0" strike="noStrike" spc="-1">
                <a:solidFill>
                  <a:srgbClr val="000000"/>
                </a:solidFill>
                <a:latin typeface="Times New Roman"/>
              </a:rPr>
              <a:t> </a:t>
            </a:r>
          </a:p>
        </p:txBody>
      </p:sp>
      <p:sp>
        <p:nvSpPr>
          <p:cNvPr id="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IN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32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/>
          </p:nvPr>
        </p:nvSpPr>
        <p:spPr>
          <a:xfrm>
            <a:off x="0" y="1537920"/>
            <a:ext cx="12191400" cy="5319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92500" lnSpcReduction="10000"/>
          </a:bodyPr>
          <a:lstStyle/>
          <a:p>
            <a:pPr marL="246960" indent="0" algn="ctr">
              <a:lnSpc>
                <a:spcPct val="2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0" indent="0">
              <a:buNone/>
            </a:pP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2410030125: SAI TEJA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2410030230: CHANDRA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2410030234: NARENDAR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2410030329: PRATAP</a:t>
            </a: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6960" indent="0" algn="just">
              <a:lnSpc>
                <a:spcPct val="2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Times New Roman"/>
              </a:rPr>
              <a:t>Under the Guidance of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Times New Roman"/>
              </a:rPr>
              <a:t>&lt;</a:t>
            </a:r>
            <a:r>
              <a:rPr lang="en-IN" b="1" dirty="0"/>
              <a:t>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Dr.A.Siva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Krishna Reddy</a:t>
            </a:r>
            <a:r>
              <a:rPr lang="en-US" sz="1800" b="0" strike="noStrike" spc="-1" dirty="0">
                <a:solidFill>
                  <a:srgbClr val="333333"/>
                </a:solidFill>
                <a:latin typeface="Times New Roman"/>
              </a:rPr>
              <a:t>&gt;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333333"/>
                </a:solidFill>
                <a:latin typeface="Times New Roman"/>
              </a:rPr>
              <a:t>&lt;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  <a:r>
              <a:rPr lang="en-US" sz="1800" b="0" strike="noStrike" spc="-1" dirty="0">
                <a:solidFill>
                  <a:srgbClr val="333333"/>
                </a:solidFill>
                <a:latin typeface="Times New Roman"/>
              </a:rPr>
              <a:t>&gt;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333333"/>
                </a:solidFill>
                <a:latin typeface="inter-regular"/>
              </a:rPr>
              <a:t>Computer Science and Engineering Department 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333333"/>
                </a:solidFill>
                <a:latin typeface="inter-regular"/>
              </a:rPr>
              <a:t>KL Hyderabad Off Campus, Aziz Nagar ,Hyderabad</a:t>
            </a: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  <a:p>
            <a:pPr marL="246960" indent="0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6898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0" strike="noStrike" spc="-1" dirty="0">
                <a:solidFill>
                  <a:srgbClr val="000000"/>
                </a:solidFill>
                <a:latin typeface="Calibri Light"/>
              </a:rPr>
              <a:t>Review-3 on</a:t>
            </a:r>
            <a:br>
              <a:rPr sz="4000" dirty="0"/>
            </a:br>
            <a:r>
              <a:rPr lang="en-US" sz="4000" spc="-1" dirty="0" err="1">
                <a:solidFill>
                  <a:srgbClr val="000000"/>
                </a:solidFill>
                <a:latin typeface="Calibri Light"/>
              </a:rPr>
              <a:t>CheatBank</a:t>
            </a:r>
            <a:endParaRPr lang="en-IN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7" dur="500" fill="hold"/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8" dur="500" fill="hold"/>
                                        <p:tgtEl>
                                          <p:spTgt spid="4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500" fill="hold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9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0" dur="500" fill="hold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5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500" fill="hold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1" dur="5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2" dur="500" fill="hold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7" dur="500" fill="hold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8" dur="500" fill="hold"/>
                                        <p:tgtEl>
                                          <p:spTgt spid="4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4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4880" cy="1172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Overview</a:t>
            </a:r>
            <a:endParaRPr lang="en-IN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Introduction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Objectives of the Project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Novelty of developed methodology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Adaptability of Methodology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Methodology Evaluation</a:t>
            </a:r>
          </a:p>
          <a:p>
            <a:pPr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Times New Roman"/>
              </a:rPr>
              <a:t>Dissemination and Accessibility</a:t>
            </a:r>
            <a:endParaRPr lang="en-US" sz="24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Times New Roman"/>
              </a:rPr>
              <a:t>References</a:t>
            </a:r>
            <a:endParaRPr lang="en-IN" sz="24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Introduction</a:t>
            </a:r>
            <a:endParaRPr lang="en-IN" sz="4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A620C-6E17-6773-1E3B-4D7A697B223C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380798" y="1324800"/>
            <a:ext cx="11429804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Cheat sheets are short notes that help people quickly recall important commands and   concepts.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cheat sheets exist online, but they are scattered and hard to find in one place.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CheatBank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single platform that collects and organizes these cheat sheets.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400" dirty="0"/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users to search, filter, and quickly access the sheet they need</a:t>
            </a:r>
            <a:r>
              <a:rPr lang="en-US" sz="2400" dirty="0"/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supports features like dark mode, favorites, and downloads for better user experience</a:t>
            </a:r>
            <a:r>
              <a:rPr lang="en-US" sz="2400" dirty="0"/>
              <a:t>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learning and working faster, easier, and more efficient</a:t>
            </a:r>
            <a:r>
              <a:rPr lang="en-US" sz="2400" dirty="0"/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</a:rPr>
              <a:t>Objectives of the Project</a:t>
            </a: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 centralized platform where users can easily access and use different cheat sheets for programming, tools, and development.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user productivity by offering quick search, filtering, and download options for cheat sheets.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 simple, modern, and user-friendly interface that makes learning and referencing easier.</a:t>
            </a: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9279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spcBef>
                <a:spcPts val="1001"/>
              </a:spcBef>
              <a:buClr>
                <a:srgbClr val="000000"/>
              </a:buClr>
            </a:pPr>
            <a:r>
              <a:rPr lang="en-US" sz="4000" spc="-1" dirty="0">
                <a:solidFill>
                  <a:srgbClr val="000000"/>
                </a:solidFill>
                <a:latin typeface="Times New Roman"/>
              </a:rPr>
              <a:t>                 Novelty of developed methodology</a:t>
            </a:r>
          </a:p>
        </p:txBody>
      </p:sp>
      <p:sp>
        <p:nvSpPr>
          <p:cNvPr id="53" name="PlaceHolder 2"/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CheatBank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multiple cheat sheets (Git, Python, C, C++, HTML, NPM, etc.) into one platform instead of being scattered across different websites.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UI with dark mode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it more user-friendly compared to plain PDF or text-based cheat sheets.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cheat sheets in a structured format with sections and commands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just plain text.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as PDF feature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users can carry cheat sheets offline.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allows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category-based filtering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helping users find the right cheat sheet quickly.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endParaRPr lang="en-IN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729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B2AEE-7F9D-90DB-8746-38EE21ECC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>
            <a:extLst>
              <a:ext uri="{FF2B5EF4-FFF2-40B4-BE49-F238E27FC236}">
                <a16:creationId xmlns:a16="http://schemas.microsoft.com/office/drawing/2014/main" id="{4EB0554C-CCC6-1139-8E76-94D684244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spcBef>
                <a:spcPts val="1001"/>
              </a:spcBef>
              <a:buClr>
                <a:srgbClr val="000000"/>
              </a:buClr>
            </a:pPr>
            <a:r>
              <a:rPr lang="en-US" sz="4000" dirty="0"/>
              <a:t>                    Adaptability of Methodology</a:t>
            </a:r>
            <a:endParaRPr lang="en-US" sz="4000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>
            <a:extLst>
              <a:ext uri="{FF2B5EF4-FFF2-40B4-BE49-F238E27FC236}">
                <a16:creationId xmlns:a16="http://schemas.microsoft.com/office/drawing/2014/main" id="{D7A5B57F-EB4F-B7CE-AA97-066A6F1A6C1C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can easily be updated by adding new cheat sheets or categories without major changes in the system.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different technologies (Git, Python, C, C++, HTML, NPM, etc.), making it adaptable for learners from various domains.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methodology can be applied for other fields like design tools, data science, or even academic subjects.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web-based design ensures it works on desktops, laptops, and mobile devices with minimal adjustments.</a:t>
            </a:r>
          </a:p>
        </p:txBody>
      </p:sp>
    </p:spTree>
    <p:extLst>
      <p:ext uri="{BB962C8B-B14F-4D97-AF65-F5344CB8AC3E}">
        <p14:creationId xmlns:p14="http://schemas.microsoft.com/office/powerpoint/2010/main" val="291617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DB423-CEC4-E34C-A7DF-12A74A74E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>
            <a:extLst>
              <a:ext uri="{FF2B5EF4-FFF2-40B4-BE49-F238E27FC236}">
                <a16:creationId xmlns:a16="http://schemas.microsoft.com/office/drawing/2014/main" id="{22A2196D-9DA3-261B-FB45-9051B63D9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" y="164592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/>
          </a:bodyPr>
          <a:lstStyle/>
          <a:p>
            <a:pPr>
              <a:spcBef>
                <a:spcPts val="1001"/>
              </a:spcBef>
              <a:buClr>
                <a:srgbClr val="000000"/>
              </a:buClr>
            </a:pPr>
            <a:r>
              <a:rPr lang="en-US" sz="4000" dirty="0"/>
              <a:t>                    </a:t>
            </a:r>
            <a:r>
              <a:rPr lang="en-US" sz="4000" spc="-1" dirty="0">
                <a:solidFill>
                  <a:srgbClr val="000000"/>
                </a:solidFill>
                <a:latin typeface="Times New Roman"/>
              </a:rPr>
              <a:t>Methodology Evaluation</a:t>
            </a:r>
            <a:br>
              <a:rPr lang="en-US" sz="4000" spc="-1" dirty="0">
                <a:solidFill>
                  <a:srgbClr val="000000"/>
                </a:solidFill>
                <a:latin typeface="Times New Roman"/>
              </a:rPr>
            </a:br>
            <a:endParaRPr lang="en-US" sz="4000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2">
            <a:extLst>
              <a:ext uri="{FF2B5EF4-FFF2-40B4-BE49-F238E27FC236}">
                <a16:creationId xmlns:a16="http://schemas.microsoft.com/office/drawing/2014/main" id="{291EE780-D0FE-B774-195D-3E5344B8158F}"/>
              </a:ext>
            </a:extLst>
          </p:cNvPr>
          <p:cNvSpPr>
            <a:spLocks noGrp="1"/>
          </p:cNvSpPr>
          <p:nvPr>
            <p:ph/>
          </p:nvPr>
        </p:nvSpPr>
        <p:spPr>
          <a:xfrm>
            <a:off x="526320" y="1325520"/>
            <a:ext cx="11498400" cy="4850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was tested with different cheat sheets (Git, Python, C, C++, HTML, NPM, etc.) to check readability and organization.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and filter functions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evaluated to ensure users can quickly find the required cheat sheet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and PDF download features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were tested to confirm that content is displayed properly and can be saved offline.</a:t>
            </a:r>
          </a:p>
          <a:p>
            <a:pPr marL="571500" indent="-342900">
              <a:spcBef>
                <a:spcPts val="1001"/>
              </a:spcBef>
              <a:tabLst>
                <a:tab pos="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methodology proved effective as it makes cheat sheets more accessible, user-friendly, and adaptable compared to traditional static documents.</a:t>
            </a:r>
          </a:p>
        </p:txBody>
      </p:sp>
    </p:spTree>
    <p:extLst>
      <p:ext uri="{BB962C8B-B14F-4D97-AF65-F5344CB8AC3E}">
        <p14:creationId xmlns:p14="http://schemas.microsoft.com/office/powerpoint/2010/main" val="1550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E12FF-750D-CCA7-53E3-0090709DB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>
            <a:extLst>
              <a:ext uri="{FF2B5EF4-FFF2-40B4-BE49-F238E27FC236}">
                <a16:creationId xmlns:a16="http://schemas.microsoft.com/office/drawing/2014/main" id="{69E5B2BA-4DF1-56F5-87E6-9ED3B1B26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74904"/>
            <a:ext cx="1219140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rmAutofit fontScale="90000"/>
          </a:bodyPr>
          <a:lstStyle/>
          <a:p>
            <a:pPr>
              <a:spcBef>
                <a:spcPts val="1001"/>
              </a:spcBef>
              <a:buClr>
                <a:srgbClr val="000000"/>
              </a:buClr>
            </a:pPr>
            <a:r>
              <a:rPr lang="en-US" sz="4000" dirty="0"/>
              <a:t>                    </a:t>
            </a:r>
            <a:r>
              <a:rPr lang="en-US" sz="4000" spc="-1" dirty="0">
                <a:solidFill>
                  <a:srgbClr val="000000"/>
                </a:solidFill>
                <a:latin typeface="Times New Roman"/>
              </a:rPr>
              <a:t>Dissemination and Accessibility</a:t>
            </a:r>
            <a:br>
              <a:rPr lang="en-US" sz="4000" spc="-1" dirty="0">
                <a:solidFill>
                  <a:srgbClr val="000000"/>
                </a:solidFill>
                <a:latin typeface="Times New Roman"/>
              </a:rPr>
            </a:br>
            <a:br>
              <a:rPr lang="en-US" sz="4000" spc="-1" dirty="0">
                <a:solidFill>
                  <a:srgbClr val="000000"/>
                </a:solidFill>
                <a:latin typeface="Times New Roman"/>
              </a:rPr>
            </a:br>
            <a:endParaRPr lang="en-US" sz="4000" spc="-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35B62A1-79A2-DAFC-8228-65626632788F}"/>
              </a:ext>
            </a:extLst>
          </p:cNvPr>
          <p:cNvSpPr>
            <a:spLocks noGrp="1" noChangeArrowheads="1"/>
          </p:cNvSpPr>
          <p:nvPr>
            <p:ph/>
          </p:nvPr>
        </p:nvSpPr>
        <p:spPr bwMode="auto">
          <a:xfrm>
            <a:off x="467472" y="1387989"/>
            <a:ext cx="11256455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CheatBank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can be shared easily as a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web-based platform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making it accessible through any browser.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download cheat sheets as PDFs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allowing offline access and easy sharing.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can be deployed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or local servers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so it can reach a wide audience.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ensures accessibility on desktops, laptops, and mobile devices.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Cheat sheets are organized by categories and search options, improving quick access for learners and developers.</a:t>
            </a:r>
          </a:p>
        </p:txBody>
      </p:sp>
    </p:spTree>
    <p:extLst>
      <p:ext uri="{BB962C8B-B14F-4D97-AF65-F5344CB8AC3E}">
        <p14:creationId xmlns:p14="http://schemas.microsoft.com/office/powerpoint/2010/main" val="4144721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/>
    </mc:Choice>
    <mc:Fallback xmlns=""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60360" y="365040"/>
            <a:ext cx="10992960" cy="1324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4400" b="0" strike="noStrike" spc="-1" dirty="0">
                <a:solidFill>
                  <a:srgbClr val="000000"/>
                </a:solidFill>
                <a:latin typeface="Calibri Light"/>
              </a:rPr>
              <a:t>References</a:t>
            </a:r>
            <a:endParaRPr lang="en-IN" sz="44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4880" cy="435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GeeksforGeeks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https://www.geeksforgeeks.org/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W3Schools — https://www.w3schools.com/ </a:t>
            </a:r>
          </a:p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Cheatography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https://cheatography.com/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MDN Web Docs — JavaScript, HTML, and CSS references — https://developer.mozilla.org/</a:t>
            </a:r>
          </a:p>
          <a:p>
            <a:pPr>
              <a:spcBef>
                <a:spcPts val="1001"/>
              </a:spcBef>
              <a:buClr>
                <a:srgbClr val="610B4B"/>
              </a:buClr>
            </a:pPr>
            <a:endParaRPr lang="en-IN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indent="-457200">
              <a:spcBef>
                <a:spcPts val="1001"/>
              </a:spcBef>
              <a:tabLst>
                <a:tab pos="0" algn="l"/>
              </a:tabLst>
            </a:pPr>
            <a:endParaRPr lang="en-IN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/>
          </p:nvPr>
        </p:nvSpPr>
        <p:spPr>
          <a:xfrm>
            <a:off x="838080" y="817560"/>
            <a:ext cx="10514880" cy="535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60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n-IN" sz="6000" b="0" strike="noStrike" spc="-1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9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6000" b="0" strike="noStrike" spc="-1">
                <a:solidFill>
                  <a:srgbClr val="000000"/>
                </a:solidFill>
                <a:latin typeface="Times New Roman"/>
              </a:rPr>
              <a:t>Thank you and Any Queries</a:t>
            </a:r>
            <a:endParaRPr lang="en-IN" sz="6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153</TotalTime>
  <Words>667</Words>
  <Application>Microsoft Office PowerPoint</Application>
  <PresentationFormat>Widescreen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Calibri Light</vt:lpstr>
      <vt:lpstr>inter-regular</vt:lpstr>
      <vt:lpstr>Symbol</vt:lpstr>
      <vt:lpstr>Times New Roman</vt:lpstr>
      <vt:lpstr>Wingdings</vt:lpstr>
      <vt:lpstr>Office Theme</vt:lpstr>
      <vt:lpstr>Review-3 on CheatBank</vt:lpstr>
      <vt:lpstr>Overview</vt:lpstr>
      <vt:lpstr>Introduction</vt:lpstr>
      <vt:lpstr>Objectives of the Project</vt:lpstr>
      <vt:lpstr>                 Novelty of developed methodology</vt:lpstr>
      <vt:lpstr>                    Adaptability of Methodology</vt:lpstr>
      <vt:lpstr>                    Methodology Evaluation </vt:lpstr>
      <vt:lpstr>                    Dissemination and Accessibility  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Transaction Management in JDBC</dc:title>
  <dc:creator>Chiranjeevi Lect</dc:creator>
  <cp:lastModifiedBy>Sai Teja</cp:lastModifiedBy>
  <cp:revision>29</cp:revision>
  <dcterms:created xsi:type="dcterms:W3CDTF">2023-08-05T05:18:30Z</dcterms:created>
  <dcterms:modified xsi:type="dcterms:W3CDTF">2025-09-24T03:39:42Z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9</vt:i4>
  </property>
</Properties>
</file>